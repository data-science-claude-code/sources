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75E"/>
        </a:solidFill>
        <a:effectLst/>
      </p:bgPr>
    </p:bg>
    <p:spTree>
      <p:nvGrpSpPr>
        <p:cNvPr id="1" name=""/>
        <p:cNvGrpSpPr/>
        <p:nvPr/>
      </p:nvGrpSpPr>
      <p:grpSpPr/>
      <p:sp>
        <p:nvSpPr>
          <p:cNvPr id="2" name="TextBox 1"/>
          <p:cNvSpPr txBox="1"/>
          <p:nvPr/>
        </p:nvSpPr>
        <p:spPr>
          <a:xfrm>
            <a:off x="914400" y="2286000"/>
            <a:ext cx="10360152" cy="1097280"/>
          </a:xfrm>
          <a:prstGeom prst="rect">
            <a:avLst/>
          </a:prstGeom>
          <a:noFill/>
        </p:spPr>
        <p:txBody>
          <a:bodyPr wrap="square">
            <a:spAutoFit/>
          </a:bodyPr>
          <a:lstStyle/>
          <a:p>
            <a:pPr algn="ctr"/>
            <a:r>
              <a:rPr sz="4000" b="1">
                <a:solidFill>
                  <a:srgbClr val="FFFFFF"/>
                </a:solidFill>
              </a:rPr>
              <a:t>2024 Revenue Performance Review</a:t>
            </a:r>
          </a:p>
        </p:txBody>
      </p:sp>
      <p:sp>
        <p:nvSpPr>
          <p:cNvPr id="3" name="TextBox 2"/>
          <p:cNvSpPr txBox="1"/>
          <p:nvPr/>
        </p:nvSpPr>
        <p:spPr>
          <a:xfrm>
            <a:off x="914400" y="3566160"/>
            <a:ext cx="10360152" cy="548640"/>
          </a:xfrm>
          <a:prstGeom prst="rect">
            <a:avLst/>
          </a:prstGeom>
          <a:noFill/>
        </p:spPr>
        <p:txBody>
          <a:bodyPr wrap="square">
            <a:spAutoFit/>
          </a:bodyPr>
          <a:lstStyle/>
          <a:p>
            <a:pPr algn="ctr"/>
            <a:r>
              <a:rPr sz="1800" b="0">
                <a:solidFill>
                  <a:srgbClr val="2E86AB"/>
                </a:solidFill>
              </a:rPr>
              <a:t>Regional Sales Analysis · January – December 2024</a:t>
            </a:r>
          </a:p>
        </p:txBody>
      </p:sp>
      <p:sp>
        <p:nvSpPr>
          <p:cNvPr id="4" name="TextBox 3"/>
          <p:cNvSpPr txBox="1"/>
          <p:nvPr/>
        </p:nvSpPr>
        <p:spPr>
          <a:xfrm>
            <a:off x="914400" y="5760720"/>
            <a:ext cx="10360152" cy="457200"/>
          </a:xfrm>
          <a:prstGeom prst="rect">
            <a:avLst/>
          </a:prstGeom>
          <a:noFill/>
        </p:spPr>
        <p:txBody>
          <a:bodyPr wrap="square">
            <a:spAutoFit/>
          </a:bodyPr>
          <a:lstStyle/>
          <a:p>
            <a:pPr algn="ctr"/>
            <a:r>
              <a:rPr sz="1200" b="0">
                <a:solidFill>
                  <a:srgbClr val="CCCCCC"/>
                </a:solidFill>
              </a:rPr>
              <a:t>Prepared by Data Analytics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4008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972800" cy="548640"/>
          </a:xfrm>
          <a:prstGeom prst="rect">
            <a:avLst/>
          </a:prstGeom>
          <a:noFill/>
        </p:spPr>
        <p:txBody>
          <a:bodyPr wrap="square">
            <a:spAutoFit/>
          </a:bodyPr>
          <a:lstStyle/>
          <a:p>
            <a:pPr algn="l"/>
            <a:r>
              <a:rPr sz="2000" b="1">
                <a:solidFill>
                  <a:srgbClr val="FFFFFF"/>
                </a:solidFill>
              </a:rPr>
              <a:t>Monthly Revenue Trend by Region</a:t>
            </a:r>
          </a:p>
        </p:txBody>
      </p:sp>
      <p:pic>
        <p:nvPicPr>
          <p:cNvPr id="4" name="Picture 3" descr="chart1_line_trend.png"/>
          <p:cNvPicPr>
            <a:picLocks noChangeAspect="1"/>
          </p:cNvPicPr>
          <p:nvPr/>
        </p:nvPicPr>
        <p:blipFill>
          <a:blip r:embed="rId2"/>
          <a:stretch>
            <a:fillRect/>
          </a:stretch>
        </p:blipFill>
        <p:spPr>
          <a:xfrm>
            <a:off x="274320" y="731520"/>
            <a:ext cx="11612880" cy="4572000"/>
          </a:xfrm>
          <a:prstGeom prst="rect">
            <a:avLst/>
          </a:prstGeom>
        </p:spPr>
      </p:pic>
      <p:sp>
        <p:nvSpPr>
          <p:cNvPr id="5" name="Rectangle 4"/>
          <p:cNvSpPr/>
          <p:nvPr/>
        </p:nvSpPr>
        <p:spPr>
          <a:xfrm>
            <a:off x="0" y="5394960"/>
            <a:ext cx="12188952" cy="14630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5458968"/>
            <a:ext cx="11430000" cy="1280160"/>
          </a:xfrm>
          <a:prstGeom prst="rect">
            <a:avLst/>
          </a:prstGeom>
          <a:noFill/>
        </p:spPr>
        <p:txBody>
          <a:bodyPr wrap="square">
            <a:spAutoFit/>
          </a:bodyPr>
          <a:lstStyle/>
          <a:p>
            <a:pPr algn="l"/>
            <a:r>
              <a:rPr sz="1200" b="0">
                <a:solidFill>
                  <a:srgbClr val="FFFFFF"/>
                </a:solidFill>
              </a:rPr>
              <a:t>Revenue peaked in November and December across all regions, driven by holiday season demand. East consistently led in monthly revenue, while North recorded the lowest figures. All regions followed a similar seasonal pattern with a mid-year plateau and year-end surge.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4008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972800" cy="548640"/>
          </a:xfrm>
          <a:prstGeom prst="rect">
            <a:avLst/>
          </a:prstGeom>
          <a:noFill/>
        </p:spPr>
        <p:txBody>
          <a:bodyPr wrap="square">
            <a:spAutoFit/>
          </a:bodyPr>
          <a:lstStyle/>
          <a:p>
            <a:pPr algn="l"/>
            <a:r>
              <a:rPr sz="2000" b="1">
                <a:solidFill>
                  <a:srgbClr val="FFFFFF"/>
                </a:solidFill>
              </a:rPr>
              <a:t>Annual Revenue by Region</a:t>
            </a:r>
          </a:p>
        </p:txBody>
      </p:sp>
      <p:pic>
        <p:nvPicPr>
          <p:cNvPr id="4" name="Picture 3" descr="chart2_bar_annual.png"/>
          <p:cNvPicPr>
            <a:picLocks noChangeAspect="1"/>
          </p:cNvPicPr>
          <p:nvPr/>
        </p:nvPicPr>
        <p:blipFill>
          <a:blip r:embed="rId2"/>
          <a:stretch>
            <a:fillRect/>
          </a:stretch>
        </p:blipFill>
        <p:spPr>
          <a:xfrm>
            <a:off x="274320" y="731520"/>
            <a:ext cx="11612880" cy="4572000"/>
          </a:xfrm>
          <a:prstGeom prst="rect">
            <a:avLst/>
          </a:prstGeom>
        </p:spPr>
      </p:pic>
      <p:sp>
        <p:nvSpPr>
          <p:cNvPr id="5" name="Rectangle 4"/>
          <p:cNvSpPr/>
          <p:nvPr/>
        </p:nvSpPr>
        <p:spPr>
          <a:xfrm>
            <a:off x="0" y="5394960"/>
            <a:ext cx="12188952" cy="14630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5458968"/>
            <a:ext cx="11430000" cy="1280160"/>
          </a:xfrm>
          <a:prstGeom prst="rect">
            <a:avLst/>
          </a:prstGeom>
          <a:noFill/>
        </p:spPr>
        <p:txBody>
          <a:bodyPr wrap="square">
            <a:spAutoFit/>
          </a:bodyPr>
          <a:lstStyle/>
          <a:p>
            <a:pPr algn="l"/>
            <a:r>
              <a:rPr sz="1200" b="0">
                <a:solidFill>
                  <a:srgbClr val="FFFFFF"/>
                </a:solidFill>
              </a:rPr>
              <a:t>East generated the highest annual revenue at approximately $1.14M, outpacing all other regions. West and South ranked 2nd and 3rd respectively, with North trailing at around $870K. The East-to-North gap of roughly $270K highlights a significant regional performance disparity.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4008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972800" cy="548640"/>
          </a:xfrm>
          <a:prstGeom prst="rect">
            <a:avLst/>
          </a:prstGeom>
          <a:noFill/>
        </p:spPr>
        <p:txBody>
          <a:bodyPr wrap="square">
            <a:spAutoFit/>
          </a:bodyPr>
          <a:lstStyle/>
          <a:p>
            <a:pPr algn="l"/>
            <a:r>
              <a:rPr sz="2000" b="1">
                <a:solidFill>
                  <a:srgbClr val="FFFFFF"/>
                </a:solidFill>
              </a:rPr>
              <a:t>Revenue Heatmap: Month × Region</a:t>
            </a:r>
          </a:p>
        </p:txBody>
      </p:sp>
      <p:pic>
        <p:nvPicPr>
          <p:cNvPr id="4" name="Picture 3" descr="chart3_heatmap.png"/>
          <p:cNvPicPr>
            <a:picLocks noChangeAspect="1"/>
          </p:cNvPicPr>
          <p:nvPr/>
        </p:nvPicPr>
        <p:blipFill>
          <a:blip r:embed="rId2"/>
          <a:stretch>
            <a:fillRect/>
          </a:stretch>
        </p:blipFill>
        <p:spPr>
          <a:xfrm>
            <a:off x="274320" y="731520"/>
            <a:ext cx="11612880" cy="4572000"/>
          </a:xfrm>
          <a:prstGeom prst="rect">
            <a:avLst/>
          </a:prstGeom>
        </p:spPr>
      </p:pic>
      <p:sp>
        <p:nvSpPr>
          <p:cNvPr id="5" name="Rectangle 4"/>
          <p:cNvSpPr/>
          <p:nvPr/>
        </p:nvSpPr>
        <p:spPr>
          <a:xfrm>
            <a:off x="0" y="5394960"/>
            <a:ext cx="12188952" cy="14630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5458968"/>
            <a:ext cx="11430000" cy="1280160"/>
          </a:xfrm>
          <a:prstGeom prst="rect">
            <a:avLst/>
          </a:prstGeom>
          <a:noFill/>
        </p:spPr>
        <p:txBody>
          <a:bodyPr wrap="square">
            <a:spAutoFit/>
          </a:bodyPr>
          <a:lstStyle/>
          <a:p>
            <a:pPr algn="l"/>
            <a:r>
              <a:rPr sz="1200" b="0">
                <a:solidFill>
                  <a:srgbClr val="FFFFFF"/>
                </a:solidFill>
              </a:rPr>
              <a:t>November and December dominate the heatmap with the deepest tones, confirming Q4 as peak season. January and February represent the weakest months uniformly across all regions. East consistently shows the highest cell values, reinforcing its position as the top-performing region.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4008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45720"/>
            <a:ext cx="10972800" cy="548640"/>
          </a:xfrm>
          <a:prstGeom prst="rect">
            <a:avLst/>
          </a:prstGeom>
          <a:noFill/>
        </p:spPr>
        <p:txBody>
          <a:bodyPr wrap="square">
            <a:spAutoFit/>
          </a:bodyPr>
          <a:lstStyle/>
          <a:p>
            <a:pPr algn="l"/>
            <a:r>
              <a:rPr sz="2000" b="1">
                <a:solidFill>
                  <a:srgbClr val="FFFFFF"/>
                </a:solidFill>
              </a:rPr>
              <a:t>Top Months by Total Revenue</a:t>
            </a:r>
          </a:p>
        </p:txBody>
      </p:sp>
      <p:pic>
        <p:nvPicPr>
          <p:cNvPr id="4" name="Picture 3" descr="chart4_top_months.png"/>
          <p:cNvPicPr>
            <a:picLocks noChangeAspect="1"/>
          </p:cNvPicPr>
          <p:nvPr/>
        </p:nvPicPr>
        <p:blipFill>
          <a:blip r:embed="rId2"/>
          <a:stretch>
            <a:fillRect/>
          </a:stretch>
        </p:blipFill>
        <p:spPr>
          <a:xfrm>
            <a:off x="274320" y="731520"/>
            <a:ext cx="11612880" cy="4572000"/>
          </a:xfrm>
          <a:prstGeom prst="rect">
            <a:avLst/>
          </a:prstGeom>
        </p:spPr>
      </p:pic>
      <p:sp>
        <p:nvSpPr>
          <p:cNvPr id="5" name="Rectangle 4"/>
          <p:cNvSpPr/>
          <p:nvPr/>
        </p:nvSpPr>
        <p:spPr>
          <a:xfrm>
            <a:off x="0" y="5394960"/>
            <a:ext cx="12188952" cy="1463040"/>
          </a:xfrm>
          <a:prstGeom prst="rect">
            <a:avLst/>
          </a:prstGeom>
          <a:solidFill>
            <a:srgbClr val="1A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5458968"/>
            <a:ext cx="11430000" cy="1280160"/>
          </a:xfrm>
          <a:prstGeom prst="rect">
            <a:avLst/>
          </a:prstGeom>
          <a:noFill/>
        </p:spPr>
        <p:txBody>
          <a:bodyPr wrap="square">
            <a:spAutoFit/>
          </a:bodyPr>
          <a:lstStyle/>
          <a:p>
            <a:pPr algn="l"/>
            <a:r>
              <a:rPr sz="1200" b="0">
                <a:solidFill>
                  <a:srgbClr val="FFFFFF"/>
                </a:solidFill>
              </a:rPr>
              <a:t>December ranks #1 with over $639K in combined regional revenue, followed closely by November at $579K. These two months alone account for approximately 30% of full-year revenue. Months 5–8 (May–August) form a steady mid-tier cluster, suggesting stable summer demand.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375E"/>
        </a:solidFill>
        <a:effectLst/>
      </p:bgPr>
    </p:bg>
    <p:spTree>
      <p:nvGrpSpPr>
        <p:cNvPr id="1" name=""/>
        <p:cNvGrpSpPr/>
        <p:nvPr/>
      </p:nvGrpSpPr>
      <p:grpSpPr/>
      <p:sp>
        <p:nvSpPr>
          <p:cNvPr id="2" name="TextBox 1"/>
          <p:cNvSpPr txBox="1"/>
          <p:nvPr/>
        </p:nvSpPr>
        <p:spPr>
          <a:xfrm>
            <a:off x="457200" y="274320"/>
            <a:ext cx="10972800" cy="640080"/>
          </a:xfrm>
          <a:prstGeom prst="rect">
            <a:avLst/>
          </a:prstGeom>
          <a:noFill/>
        </p:spPr>
        <p:txBody>
          <a:bodyPr wrap="square">
            <a:spAutoFit/>
          </a:bodyPr>
          <a:lstStyle/>
          <a:p>
            <a:pPr algn="l"/>
            <a:r>
              <a:rPr sz="2800" b="1">
                <a:solidFill>
                  <a:srgbClr val="FFFFFF"/>
                </a:solidFill>
              </a:rPr>
              <a:t>Key Takeaways</a:t>
            </a:r>
          </a:p>
        </p:txBody>
      </p:sp>
      <p:sp>
        <p:nvSpPr>
          <p:cNvPr id="3" name="Oval 2"/>
          <p:cNvSpPr/>
          <p:nvPr/>
        </p:nvSpPr>
        <p:spPr>
          <a:xfrm>
            <a:off x="365760" y="1234440"/>
            <a:ext cx="502920" cy="50292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07008"/>
            <a:ext cx="502920" cy="502920"/>
          </a:xfrm>
          <a:prstGeom prst="rect">
            <a:avLst/>
          </a:prstGeom>
          <a:noFill/>
        </p:spPr>
        <p:txBody>
          <a:bodyPr wrap="square">
            <a:spAutoFit/>
          </a:bodyPr>
          <a:lstStyle/>
          <a:p>
            <a:pPr algn="ctr"/>
            <a:r>
              <a:rPr sz="1600" b="1">
                <a:solidFill>
                  <a:srgbClr val="FFFFFF"/>
                </a:solidFill>
              </a:rPr>
              <a:t>1</a:t>
            </a:r>
          </a:p>
        </p:txBody>
      </p:sp>
      <p:sp>
        <p:nvSpPr>
          <p:cNvPr id="5" name="TextBox 4"/>
          <p:cNvSpPr txBox="1"/>
          <p:nvPr/>
        </p:nvSpPr>
        <p:spPr>
          <a:xfrm>
            <a:off x="1005840" y="1097280"/>
            <a:ext cx="10058400" cy="457200"/>
          </a:xfrm>
          <a:prstGeom prst="rect">
            <a:avLst/>
          </a:prstGeom>
          <a:noFill/>
        </p:spPr>
        <p:txBody>
          <a:bodyPr wrap="square">
            <a:spAutoFit/>
          </a:bodyPr>
          <a:lstStyle/>
          <a:p>
            <a:pPr algn="l"/>
            <a:r>
              <a:rPr sz="1500" b="1">
                <a:solidFill>
                  <a:srgbClr val="FFFFFF"/>
                </a:solidFill>
              </a:rPr>
              <a:t>Q4 Drives ~30% of Annual Revenue</a:t>
            </a:r>
          </a:p>
        </p:txBody>
      </p:sp>
      <p:sp>
        <p:nvSpPr>
          <p:cNvPr id="6" name="TextBox 5"/>
          <p:cNvSpPr txBox="1"/>
          <p:nvPr/>
        </p:nvSpPr>
        <p:spPr>
          <a:xfrm>
            <a:off x="1005840" y="1554480"/>
            <a:ext cx="10058400" cy="914400"/>
          </a:xfrm>
          <a:prstGeom prst="rect">
            <a:avLst/>
          </a:prstGeom>
          <a:noFill/>
        </p:spPr>
        <p:txBody>
          <a:bodyPr wrap="square">
            <a:spAutoFit/>
          </a:bodyPr>
          <a:lstStyle/>
          <a:p>
            <a:pPr algn="l"/>
            <a:r>
              <a:rPr sz="1100" b="0">
                <a:solidFill>
                  <a:srgbClr val="CCDDEE"/>
                </a:solidFill>
              </a:rPr>
              <a:t>November and December are critical revenue months. Prioritize inventory, staffing, and marketing investments ahead of Q4 to capitalize on peak seasonal demand.</a:t>
            </a:r>
          </a:p>
        </p:txBody>
      </p:sp>
      <p:sp>
        <p:nvSpPr>
          <p:cNvPr id="7" name="Oval 6"/>
          <p:cNvSpPr/>
          <p:nvPr/>
        </p:nvSpPr>
        <p:spPr>
          <a:xfrm>
            <a:off x="365760" y="2880360"/>
            <a:ext cx="502920" cy="50292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852928"/>
            <a:ext cx="502920" cy="502920"/>
          </a:xfrm>
          <a:prstGeom prst="rect">
            <a:avLst/>
          </a:prstGeom>
          <a:noFill/>
        </p:spPr>
        <p:txBody>
          <a:bodyPr wrap="square">
            <a:spAutoFit/>
          </a:bodyPr>
          <a:lstStyle/>
          <a:p>
            <a:pPr algn="ctr"/>
            <a:r>
              <a:rPr sz="1600" b="1">
                <a:solidFill>
                  <a:srgbClr val="FFFFFF"/>
                </a:solidFill>
              </a:rPr>
              <a:t>2</a:t>
            </a:r>
          </a:p>
        </p:txBody>
      </p:sp>
      <p:sp>
        <p:nvSpPr>
          <p:cNvPr id="9" name="TextBox 8"/>
          <p:cNvSpPr txBox="1"/>
          <p:nvPr/>
        </p:nvSpPr>
        <p:spPr>
          <a:xfrm>
            <a:off x="1005840" y="2743200"/>
            <a:ext cx="10058400" cy="457200"/>
          </a:xfrm>
          <a:prstGeom prst="rect">
            <a:avLst/>
          </a:prstGeom>
          <a:noFill/>
        </p:spPr>
        <p:txBody>
          <a:bodyPr wrap="square">
            <a:spAutoFit/>
          </a:bodyPr>
          <a:lstStyle/>
          <a:p>
            <a:pPr algn="l"/>
            <a:r>
              <a:rPr sz="1500" b="1">
                <a:solidFill>
                  <a:srgbClr val="FFFFFF"/>
                </a:solidFill>
              </a:rPr>
              <a:t>East Region is the Consistent Top Performer</a:t>
            </a:r>
          </a:p>
        </p:txBody>
      </p:sp>
      <p:sp>
        <p:nvSpPr>
          <p:cNvPr id="10" name="TextBox 9"/>
          <p:cNvSpPr txBox="1"/>
          <p:nvPr/>
        </p:nvSpPr>
        <p:spPr>
          <a:xfrm>
            <a:off x="1005840" y="3200400"/>
            <a:ext cx="10058400" cy="914400"/>
          </a:xfrm>
          <a:prstGeom prst="rect">
            <a:avLst/>
          </a:prstGeom>
          <a:noFill/>
        </p:spPr>
        <p:txBody>
          <a:bodyPr wrap="square">
            <a:spAutoFit/>
          </a:bodyPr>
          <a:lstStyle/>
          <a:p>
            <a:pPr algn="l"/>
            <a:r>
              <a:rPr sz="1100" b="0">
                <a:solidFill>
                  <a:srgbClr val="CCDDEE"/>
                </a:solidFill>
              </a:rPr>
              <a:t>East leads in both monthly and annual revenue across all 12 months. Studying East's sales strategies and customer mix could unlock growth levers for other regions.</a:t>
            </a:r>
          </a:p>
        </p:txBody>
      </p:sp>
      <p:sp>
        <p:nvSpPr>
          <p:cNvPr id="11" name="Oval 10"/>
          <p:cNvSpPr/>
          <p:nvPr/>
        </p:nvSpPr>
        <p:spPr>
          <a:xfrm>
            <a:off x="365760" y="4526280"/>
            <a:ext cx="502920" cy="50292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498848"/>
            <a:ext cx="502920" cy="502920"/>
          </a:xfrm>
          <a:prstGeom prst="rect">
            <a:avLst/>
          </a:prstGeom>
          <a:noFill/>
        </p:spPr>
        <p:txBody>
          <a:bodyPr wrap="square">
            <a:spAutoFit/>
          </a:bodyPr>
          <a:lstStyle/>
          <a:p>
            <a:pPr algn="ctr"/>
            <a:r>
              <a:rPr sz="1600" b="1">
                <a:solidFill>
                  <a:srgbClr val="FFFFFF"/>
                </a:solidFill>
              </a:rPr>
              <a:t>3</a:t>
            </a:r>
          </a:p>
        </p:txBody>
      </p:sp>
      <p:sp>
        <p:nvSpPr>
          <p:cNvPr id="13" name="TextBox 12"/>
          <p:cNvSpPr txBox="1"/>
          <p:nvPr/>
        </p:nvSpPr>
        <p:spPr>
          <a:xfrm>
            <a:off x="1005840" y="4389120"/>
            <a:ext cx="10058400" cy="457200"/>
          </a:xfrm>
          <a:prstGeom prst="rect">
            <a:avLst/>
          </a:prstGeom>
          <a:noFill/>
        </p:spPr>
        <p:txBody>
          <a:bodyPr wrap="square">
            <a:spAutoFit/>
          </a:bodyPr>
          <a:lstStyle/>
          <a:p>
            <a:pPr algn="l"/>
            <a:r>
              <a:rPr sz="1500" b="1">
                <a:solidFill>
                  <a:srgbClr val="FFFFFF"/>
                </a:solidFill>
              </a:rPr>
              <a:t>Mid-Year Plateau Signals an Opportunity</a:t>
            </a:r>
          </a:p>
        </p:txBody>
      </p:sp>
      <p:sp>
        <p:nvSpPr>
          <p:cNvPr id="14" name="TextBox 13"/>
          <p:cNvSpPr txBox="1"/>
          <p:nvPr/>
        </p:nvSpPr>
        <p:spPr>
          <a:xfrm>
            <a:off x="1005840" y="4846320"/>
            <a:ext cx="10058400" cy="914400"/>
          </a:xfrm>
          <a:prstGeom prst="rect">
            <a:avLst/>
          </a:prstGeom>
          <a:noFill/>
        </p:spPr>
        <p:txBody>
          <a:bodyPr wrap="square">
            <a:spAutoFit/>
          </a:bodyPr>
          <a:lstStyle/>
          <a:p>
            <a:pPr algn="l"/>
            <a:r>
              <a:rPr sz="1100" b="0">
                <a:solidFill>
                  <a:srgbClr val="CCDDEE"/>
                </a:solidFill>
              </a:rPr>
              <a:t>May through August shows relatively flat growth across regions. Targeted mid-year promotions or product launches could help smooth the revenue curve and reduce over-reliance on Q4.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