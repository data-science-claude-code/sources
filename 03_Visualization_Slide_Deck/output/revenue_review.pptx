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7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2024 매출 성과 리뷰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56616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E86AB"/>
                </a:solidFill>
              </a:rPr>
              <a:t>지역별 매출 분석 · 2024년 1월 – 12월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76072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데이터 분석팀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지역별 월별 매출 추이</a:t>
            </a:r>
          </a:p>
        </p:txBody>
      </p:sp>
      <p:pic>
        <p:nvPicPr>
          <p:cNvPr id="4" name="Picture 3" descr="chart1_lin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31520"/>
            <a:ext cx="11612880" cy="4572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394960"/>
            <a:ext cx="12188952" cy="14630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5458968"/>
            <a:ext cx="11430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11월과 12월에 전 지역에서 매출이 최고조에 달하며, 연말 성수기 수요가 큰 영향을 미치고 있습니다. 동부 지역이 매달 가장 높은 매출을 기록하며 꾸준한 1위를 유지했습니다. 모든 지역이 유사한 계절 패턴을 보이며, 중반부 정체 후 연말에 급등하는 추세를 보였습니다.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지역별 연간 총 매출</a:t>
            </a:r>
          </a:p>
        </p:txBody>
      </p:sp>
      <p:pic>
        <p:nvPicPr>
          <p:cNvPr id="4" name="Picture 3" descr="chart2_bar_ann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31520"/>
            <a:ext cx="11612880" cy="4572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394960"/>
            <a:ext cx="12188952" cy="14630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5458968"/>
            <a:ext cx="11430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동부 지역이 약 114만 달러로 가장 높은 연간 매출을 기록하며 모든 지역을 앞섰습니다. 서부와 남부가 각각 2위와 3위를 차지했으며, 북부는 약 87만 달러로 최하위였습니다. 동부와 북부의 약 27만 달러 격차는 지역 간 성과 불균형이 상당함을 보여줍니다.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월별 × 지역별 매출 히트맵</a:t>
            </a:r>
          </a:p>
        </p:txBody>
      </p:sp>
      <p:pic>
        <p:nvPicPr>
          <p:cNvPr id="4" name="Picture 3" descr="chart3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31520"/>
            <a:ext cx="11612880" cy="4572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394960"/>
            <a:ext cx="12188952" cy="14630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5458968"/>
            <a:ext cx="11430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11월과 12월이 가장 진한 색조로 나타나며 4분기가 성수기임을 확인할 수 있습니다. 1월과 2월은 전 지역에서 가장 낮은 매출을 기록하는 비수기입니다. 동부 지역이 모든 셀에서 가장 높은 수치를 보이며 최고 성과 지역임을 재확인합니다.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전체 지역 총 매출 기준 상위 월</a:t>
            </a:r>
          </a:p>
        </p:txBody>
      </p:sp>
      <p:pic>
        <p:nvPicPr>
          <p:cNvPr id="4" name="Picture 3" descr="chart4_top_mont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31520"/>
            <a:ext cx="11612880" cy="4572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394960"/>
            <a:ext cx="12188952" cy="14630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5458968"/>
            <a:ext cx="11430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12월이 약 64만 달러로 1위, 11월이 약 58만 달러로 2위를 차지했습니다. 이 두 달만으로 연간 총 매출의 약 30%를 차지하는 중요한 성수기입니다. 5–8월(5월~8월)은 안정적인 중간 수준을 형성하며 여름 수요가 꾸준함을 보여줍니다.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7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핵심 시사점</a:t>
            </a:r>
          </a:p>
        </p:txBody>
      </p:sp>
      <p:sp>
        <p:nvSpPr>
          <p:cNvPr id="3" name="Oval 2"/>
          <p:cNvSpPr/>
          <p:nvPr/>
        </p:nvSpPr>
        <p:spPr>
          <a:xfrm>
            <a:off x="365760" y="1234440"/>
            <a:ext cx="502920" cy="50292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070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4분기가 연간 매출의 약 30%를 견인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EE"/>
                </a:solidFill>
              </a:rPr>
              <a:t>11월과 12월은 매출 성수기로, 사전에 재고·인력·마케팅 투자를 집중하여 연말 수요를 최대한 활용하는 전략이 필요합니다.</a:t>
            </a:r>
          </a:p>
        </p:txBody>
      </p:sp>
      <p:sp>
        <p:nvSpPr>
          <p:cNvPr id="7" name="Oval 6"/>
          <p:cNvSpPr/>
          <p:nvPr/>
        </p:nvSpPr>
        <p:spPr>
          <a:xfrm>
            <a:off x="365760" y="2880360"/>
            <a:ext cx="502920" cy="50292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8529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동부 지역이 전 기간 최고 성과 지역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EE"/>
                </a:solidFill>
              </a:rPr>
              <a:t>동부는 12개월 내내 월별·연간 매출 모두 1위를 유지했습니다. 동부의 영업 전략과 고객 구성을 분석하여 타 지역에 적용할 성장 레버를 찾아야 합니다.</a:t>
            </a:r>
          </a:p>
        </p:txBody>
      </p:sp>
      <p:sp>
        <p:nvSpPr>
          <p:cNvPr id="11" name="Oval 10"/>
          <p:cNvSpPr/>
          <p:nvPr/>
        </p:nvSpPr>
        <p:spPr>
          <a:xfrm>
            <a:off x="365760" y="4526280"/>
            <a:ext cx="502920" cy="50292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44988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중반기 정체 구간에서 성장 기회 발굴 필요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846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EE"/>
                </a:solidFill>
              </a:rPr>
              <a:t>5~8월 전 지역에서 상대적으로 평탄한 성장세를 보입니다. 중반기 타깃 프로모션이나 신제품 출시로 매출 곡선을 평탄화하고 4분기 의존도를 낮출 수 있습니다.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